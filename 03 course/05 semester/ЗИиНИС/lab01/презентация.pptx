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66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8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82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64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1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68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6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2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0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96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08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28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lang="ru-RU" dirty="0"/>
          </a:p>
          <a:p>
            <a:pPr algn="ctr"/>
            <a:r>
              <a:rPr lang="ru-RU" b="1" dirty="0"/>
              <a:t>Разработка и внедрение политики информационной безопасности типографии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algn="r"/>
            <a:r>
              <a:rPr dirty="0" err="1"/>
              <a:t>Жук</a:t>
            </a:r>
            <a:r>
              <a:rPr dirty="0"/>
              <a:t> </a:t>
            </a:r>
            <a:r>
              <a:rPr dirty="0" err="1"/>
              <a:t>Дмитрий</a:t>
            </a:r>
            <a:r>
              <a:rPr dirty="0"/>
              <a:t> </a:t>
            </a:r>
            <a:r>
              <a:rPr dirty="0" err="1"/>
              <a:t>Сергееви</a:t>
            </a:r>
            <a:r>
              <a:rPr lang="ru-RU" dirty="0"/>
              <a:t>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Политика </a:t>
            </a:r>
            <a:r>
              <a:rPr dirty="0" err="1"/>
              <a:t>информационной</a:t>
            </a:r>
            <a:r>
              <a:rPr dirty="0"/>
              <a:t> </a:t>
            </a:r>
            <a:r>
              <a:rPr dirty="0" err="1"/>
              <a:t>безопасности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200" b="1" dirty="0"/>
              <a:t>Политика безопасности </a:t>
            </a:r>
            <a:r>
              <a:rPr lang="ru-RU" sz="2200" dirty="0"/>
              <a:t>– набор законов, правил и норм поведения, определяющих, как организация обрабатывает, защищает и распространяет информацию. Политика безопасности должна включать в себя анализ возможных угроз и выбор мер противодействия.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Актуальность</a:t>
            </a:r>
            <a:r>
              <a:rPr lang="ru-RU" dirty="0"/>
              <a:t> </a:t>
            </a:r>
            <a:r>
              <a:rPr dirty="0"/>
              <a:t>ПИБ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dirty="0"/>
              <a:t>Современная типография обрабатывает значительные объёмы конфиденциальной информации: макеты клиентов, персональные данные, коммерческую документацию. Утечка или модификация этих данных может привести к серьёзным последствиям – от потери доверия клиентов до финансовых убытков и юридических санкций.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F3034-2A36-CD2D-4E83-5D3934DB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B0944F-CCCA-B6F6-7FD9-4AEBDA217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4475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b="1" dirty="0"/>
              <a:t>Цель</a:t>
            </a:r>
            <a:r>
              <a:rPr lang="ru-RU" dirty="0"/>
              <a:t> разработки ПИБ – обеспечение надёжной защиты информационных ресурсов типографии от различного вида угроз из вне и внутри, а также обеспечение постоянной работы типографии и снижении рисков.</a:t>
            </a:r>
          </a:p>
          <a:p>
            <a:pPr algn="just"/>
            <a:r>
              <a:rPr lang="ru-RU" b="1" dirty="0"/>
              <a:t>Задачи</a:t>
            </a:r>
            <a:r>
              <a:rPr lang="en-US" b="1" dirty="0"/>
              <a:t>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выявить объекты защиты и определить уровень их критичности;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проанализировать угрозы и источники рисков;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провести оценку уязвимостей и эффективности текущих мер;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выбрать адекватные меры защиты (административные, организационные, технические);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внедрить комплексную систему обеспечения ИБ, интегрированную в бизнес-процессы;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обеспечить обучение и вовлечение сотрудников в культуру безопасности.</a:t>
            </a:r>
          </a:p>
          <a:p>
            <a:pPr algn="just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7477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Объекты защиты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Информационные </a:t>
            </a:r>
            <a:r>
              <a:rPr dirty="0" err="1"/>
              <a:t>ресурсы</a:t>
            </a:r>
            <a:r>
              <a:rPr dirty="0"/>
              <a:t>: </a:t>
            </a:r>
            <a:r>
              <a:rPr dirty="0" err="1"/>
              <a:t>заказы</a:t>
            </a:r>
            <a:r>
              <a:rPr dirty="0"/>
              <a:t>, </a:t>
            </a:r>
            <a:r>
              <a:rPr dirty="0" err="1"/>
              <a:t>макеты</a:t>
            </a:r>
            <a:r>
              <a:rPr dirty="0"/>
              <a:t>, </a:t>
            </a:r>
            <a:r>
              <a:rPr dirty="0" err="1"/>
              <a:t>финансы</a:t>
            </a:r>
            <a:r>
              <a:rPr dirty="0"/>
              <a:t>, </a:t>
            </a:r>
            <a:r>
              <a:rPr dirty="0" err="1"/>
              <a:t>персональные</a:t>
            </a:r>
            <a:r>
              <a:rPr dirty="0"/>
              <a:t> </a:t>
            </a:r>
            <a:r>
              <a:rPr dirty="0" err="1"/>
              <a:t>данные</a:t>
            </a:r>
            <a:endParaRPr dirty="0"/>
          </a:p>
          <a:p>
            <a:pPr>
              <a:buFont typeface="Wingdings" panose="05000000000000000000" pitchFamily="2" charset="2"/>
              <a:buChar char="§"/>
            </a:pPr>
            <a:r>
              <a:rPr dirty="0" err="1"/>
              <a:t>Программные</a:t>
            </a:r>
            <a:r>
              <a:rPr dirty="0"/>
              <a:t> </a:t>
            </a:r>
            <a:r>
              <a:rPr dirty="0" err="1"/>
              <a:t>средства</a:t>
            </a:r>
            <a:r>
              <a:rPr dirty="0"/>
              <a:t>: </a:t>
            </a:r>
            <a:r>
              <a:rPr dirty="0" err="1"/>
              <a:t>бухгалтерия</a:t>
            </a:r>
            <a:r>
              <a:rPr dirty="0"/>
              <a:t>,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качества</a:t>
            </a:r>
            <a:endParaRPr dirty="0"/>
          </a:p>
          <a:p>
            <a:pPr>
              <a:buFont typeface="Wingdings" panose="05000000000000000000" pitchFamily="2" charset="2"/>
              <a:buChar char="§"/>
            </a:pPr>
            <a:r>
              <a:rPr dirty="0" err="1"/>
              <a:t>Аппаратные</a:t>
            </a:r>
            <a:r>
              <a:rPr dirty="0"/>
              <a:t> </a:t>
            </a:r>
            <a:r>
              <a:rPr dirty="0" err="1"/>
              <a:t>средства</a:t>
            </a:r>
            <a:r>
              <a:rPr dirty="0"/>
              <a:t>: </a:t>
            </a:r>
            <a:r>
              <a:rPr dirty="0" err="1"/>
              <a:t>серверы</a:t>
            </a:r>
            <a:r>
              <a:rPr dirty="0"/>
              <a:t>, ПК, </a:t>
            </a:r>
            <a:r>
              <a:rPr dirty="0" err="1"/>
              <a:t>принтеры</a:t>
            </a:r>
            <a:endParaRPr dirty="0"/>
          </a:p>
          <a:p>
            <a:pPr>
              <a:buFont typeface="Wingdings" panose="05000000000000000000" pitchFamily="2" charset="2"/>
              <a:buChar char="§"/>
            </a:pPr>
            <a:r>
              <a:rPr dirty="0" err="1"/>
              <a:t>Физические</a:t>
            </a:r>
            <a:r>
              <a:rPr dirty="0"/>
              <a:t> </a:t>
            </a:r>
            <a:r>
              <a:rPr dirty="0" err="1"/>
              <a:t>носители</a:t>
            </a:r>
            <a:r>
              <a:rPr dirty="0"/>
              <a:t> и </a:t>
            </a:r>
            <a:r>
              <a:rPr dirty="0" err="1"/>
              <a:t>персонал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2103875"/>
          </a:xfrm>
        </p:spPr>
        <p:txBody>
          <a:bodyPr>
            <a:normAutofit/>
          </a:bodyPr>
          <a:lstStyle/>
          <a:p>
            <a:r>
              <a:rPr lang="ru-RU" sz="3100" dirty="0">
                <a:solidFill>
                  <a:srgbClr val="FFFFFF"/>
                </a:solidFill>
              </a:rPr>
              <a:t>Структура организации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278" y="2653800"/>
            <a:ext cx="2313633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1300" dirty="0">
                <a:solidFill>
                  <a:srgbClr val="FFFFFF"/>
                </a:solidFill>
              </a:rPr>
              <a:t>Совет директоров и генеральный директор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300" dirty="0">
                <a:solidFill>
                  <a:srgbClr val="FFFFFF"/>
                </a:solidFill>
              </a:rPr>
              <a:t>Финансовый, коммерческий, производственный блоки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300" dirty="0">
                <a:solidFill>
                  <a:srgbClr val="FFFFFF"/>
                </a:solidFill>
              </a:rPr>
              <a:t>IT-отдел, служба безопасности, кадровая служба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300" dirty="0">
                <a:solidFill>
                  <a:srgbClr val="FFFFFF"/>
                </a:solidFill>
              </a:rPr>
              <a:t>Подразделения: маркетинг, продажи, дизайн, производство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4" name="Рисунок 3" descr="Организационная структура современной типографии">
            <a:extLst>
              <a:ext uri="{FF2B5EF4-FFF2-40B4-BE49-F238E27FC236}">
                <a16:creationId xmlns:a16="http://schemas.microsoft.com/office/drawing/2014/main" id="{883C5F31-653F-60D1-B1A1-FAD075DCF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56512" y="1340147"/>
            <a:ext cx="5098562" cy="41777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392CD-474B-3C8A-75D4-F5EF3F72B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2" y="639097"/>
            <a:ext cx="255147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Оценка </a:t>
            </a:r>
            <a:r>
              <a:rPr lang="en-US" sz="57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угроз</a:t>
            </a:r>
            <a:endParaRPr lang="en-US" sz="5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56978" y="4343400"/>
            <a:ext cx="24003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30" name="Объект 3">
            <a:extLst>
              <a:ext uri="{FF2B5EF4-FFF2-40B4-BE49-F238E27FC236}">
                <a16:creationId xmlns:a16="http://schemas.microsoft.com/office/drawing/2014/main" id="{CF40BBA2-BD10-4DB4-C1C5-5F2E8E5E62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606881"/>
              </p:ext>
            </p:extLst>
          </p:nvPr>
        </p:nvGraphicFramePr>
        <p:xfrm>
          <a:off x="671831" y="640081"/>
          <a:ext cx="4791500" cy="5054158"/>
        </p:xfrm>
        <a:graphic>
          <a:graphicData uri="http://schemas.openxmlformats.org/drawingml/2006/table">
            <a:tbl>
              <a:tblPr firstRow="1" firstCol="1" bandRow="1"/>
              <a:tblGrid>
                <a:gridCol w="1390063">
                  <a:extLst>
                    <a:ext uri="{9D8B030D-6E8A-4147-A177-3AD203B41FA5}">
                      <a16:colId xmlns:a16="http://schemas.microsoft.com/office/drawing/2014/main" val="3672247678"/>
                    </a:ext>
                  </a:extLst>
                </a:gridCol>
                <a:gridCol w="1024299">
                  <a:extLst>
                    <a:ext uri="{9D8B030D-6E8A-4147-A177-3AD203B41FA5}">
                      <a16:colId xmlns:a16="http://schemas.microsoft.com/office/drawing/2014/main" val="3633675118"/>
                    </a:ext>
                  </a:extLst>
                </a:gridCol>
                <a:gridCol w="1409872">
                  <a:extLst>
                    <a:ext uri="{9D8B030D-6E8A-4147-A177-3AD203B41FA5}">
                      <a16:colId xmlns:a16="http://schemas.microsoft.com/office/drawing/2014/main" val="1461889169"/>
                    </a:ext>
                  </a:extLst>
                </a:gridCol>
                <a:gridCol w="967266">
                  <a:extLst>
                    <a:ext uri="{9D8B030D-6E8A-4147-A177-3AD203B41FA5}">
                      <a16:colId xmlns:a16="http://schemas.microsoft.com/office/drawing/2014/main" val="3546266123"/>
                    </a:ext>
                  </a:extLst>
                </a:gridCol>
              </a:tblGrid>
              <a:tr h="400806"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угрозы</a:t>
                      </a:r>
                      <a:endParaRPr lang="ru-RU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Ущерб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Риск</a:t>
                      </a:r>
                      <a:endParaRPr lang="ru-RU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613504"/>
                  </a:ext>
                </a:extLst>
              </a:tr>
              <a:tr h="581669">
                <a:tc>
                  <a:txBody>
                    <a:bodyPr/>
                    <a:lstStyle/>
                    <a:p>
                      <a:pPr indent="0" algn="just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Кража персональных данных клиентов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75797"/>
                  </a:ext>
                </a:extLst>
              </a:tr>
              <a:tr h="581669">
                <a:tc>
                  <a:txBody>
                    <a:bodyPr/>
                    <a:lstStyle/>
                    <a:p>
                      <a:pPr indent="0" algn="just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Пожар или затопление серверной.архива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093059"/>
                  </a:ext>
                </a:extLst>
              </a:tr>
              <a:tr h="762532">
                <a:tc>
                  <a:txBody>
                    <a:bodyPr/>
                    <a:lstStyle/>
                    <a:p>
                      <a:pPr indent="0" algn="just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Поломка печатного оборудования или контроллера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0,6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01190"/>
                  </a:ext>
                </a:extLst>
              </a:tr>
              <a:tr h="762532">
                <a:tc>
                  <a:txBody>
                    <a:bodyPr/>
                    <a:lstStyle/>
                    <a:p>
                      <a:pPr indent="0" algn="just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Внедрение вредоносного ПО через почту или </a:t>
                      </a:r>
                      <a:r>
                        <a:rPr lang="ru-RU" sz="1200" b="0" i="0" u="none" strike="noStrike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флеш</a:t>
                      </a:r>
                      <a:r>
                        <a:rPr lang="ru-RU" sz="12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-накопители</a:t>
                      </a:r>
                      <a:endParaRPr lang="ru-RU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374680"/>
                  </a:ext>
                </a:extLst>
              </a:tr>
              <a:tr h="581669">
                <a:tc>
                  <a:txBody>
                    <a:bodyPr/>
                    <a:lstStyle/>
                    <a:p>
                      <a:pPr indent="0" algn="just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Сбой производственной системы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673699"/>
                  </a:ext>
                </a:extLst>
              </a:tr>
              <a:tr h="581669">
                <a:tc>
                  <a:txBody>
                    <a:bodyPr/>
                    <a:lstStyle/>
                    <a:p>
                      <a:pPr indent="0" algn="just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Утечка дизайнерских макетов клиентов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671209"/>
                  </a:ext>
                </a:extLst>
              </a:tr>
              <a:tr h="581669">
                <a:tc>
                  <a:txBody>
                    <a:bodyPr/>
                    <a:lstStyle/>
                    <a:p>
                      <a:pPr indent="0" algn="just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DDoS-</a:t>
                      </a: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атака на сайт приёма заказов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280268"/>
                  </a:ext>
                </a:extLst>
              </a:tr>
              <a:tr h="219943"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Итого</a:t>
                      </a:r>
                      <a:endParaRPr lang="ru-RU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ru-RU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1,5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t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ru-RU" sz="12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5,4</a:t>
                      </a:r>
                      <a:endParaRPr lang="ru-RU" sz="1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35" marR="58135" marT="80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059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736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Меры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обеспечению</a:t>
            </a:r>
            <a:r>
              <a:rPr dirty="0"/>
              <a:t> </a:t>
            </a:r>
            <a:r>
              <a:rPr dirty="0" err="1"/>
              <a:t>безопасности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 err="1"/>
              <a:t>Целостность</a:t>
            </a:r>
            <a:r>
              <a:rPr dirty="0"/>
              <a:t>: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</a:t>
            </a:r>
            <a:r>
              <a:rPr dirty="0" err="1"/>
              <a:t>резервные</a:t>
            </a:r>
            <a:r>
              <a:rPr dirty="0"/>
              <a:t> </a:t>
            </a:r>
            <a:r>
              <a:rPr dirty="0" err="1"/>
              <a:t>копии</a:t>
            </a:r>
            <a:endParaRPr dirty="0"/>
          </a:p>
          <a:p>
            <a:pPr>
              <a:buFont typeface="Wingdings" panose="05000000000000000000" pitchFamily="2" charset="2"/>
              <a:buChar char="§"/>
            </a:pPr>
            <a:r>
              <a:rPr dirty="0" err="1"/>
              <a:t>Конфиденциальность</a:t>
            </a:r>
            <a:r>
              <a:rPr dirty="0"/>
              <a:t>: </a:t>
            </a:r>
            <a:r>
              <a:rPr dirty="0" err="1"/>
              <a:t>шифрование</a:t>
            </a:r>
            <a:r>
              <a:rPr dirty="0"/>
              <a:t>, NDA, </a:t>
            </a:r>
            <a:r>
              <a:rPr dirty="0" err="1"/>
              <a:t>аудит</a:t>
            </a:r>
            <a:endParaRPr dirty="0"/>
          </a:p>
          <a:p>
            <a:pPr>
              <a:buFont typeface="Wingdings" panose="05000000000000000000" pitchFamily="2" charset="2"/>
              <a:buChar char="§"/>
            </a:pPr>
            <a:r>
              <a:rPr dirty="0" err="1"/>
              <a:t>Доступность</a:t>
            </a:r>
            <a:r>
              <a:rPr dirty="0"/>
              <a:t>: </a:t>
            </a:r>
            <a:r>
              <a:rPr dirty="0" err="1"/>
              <a:t>резервные</a:t>
            </a:r>
            <a:r>
              <a:rPr dirty="0"/>
              <a:t> </a:t>
            </a:r>
            <a:r>
              <a:rPr dirty="0" err="1"/>
              <a:t>серверы</a:t>
            </a:r>
            <a:r>
              <a:rPr dirty="0"/>
              <a:t>, </a:t>
            </a:r>
            <a:r>
              <a:rPr dirty="0" err="1"/>
              <a:t>репликация</a:t>
            </a:r>
            <a:r>
              <a:rPr dirty="0"/>
              <a:t>,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восстановления</a:t>
            </a:r>
            <a:endParaRPr dirty="0"/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Права </a:t>
            </a:r>
            <a:r>
              <a:rPr dirty="0" err="1"/>
              <a:t>собственности</a:t>
            </a:r>
            <a:r>
              <a:rPr dirty="0"/>
              <a:t>: </a:t>
            </a:r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носителей</a:t>
            </a:r>
            <a:r>
              <a:rPr dirty="0"/>
              <a:t>, </a:t>
            </a:r>
            <a:r>
              <a:rPr dirty="0" err="1"/>
              <a:t>цифровые</a:t>
            </a:r>
            <a:r>
              <a:rPr dirty="0"/>
              <a:t> </a:t>
            </a:r>
            <a:r>
              <a:rPr dirty="0" err="1"/>
              <a:t>подписи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Для стабильной работы типографии важно разработать и внедрить политику информационной безопасности, а затем применять соответствующие меры защиты. Поскольку типография работает с различными видами информации, необходимо надежно защищать ее от несанкционированного доступа и других угроз.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102</TotalTime>
  <Words>383</Words>
  <Application>Microsoft Office PowerPoint</Application>
  <PresentationFormat>Экран (4:3)</PresentationFormat>
  <Paragraphs>76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Ретро</vt:lpstr>
      <vt:lpstr>Лабораторная работа 1</vt:lpstr>
      <vt:lpstr>Политика информационной безопасности</vt:lpstr>
      <vt:lpstr>Актуальность ПИБ</vt:lpstr>
      <vt:lpstr>Цель и задачи</vt:lpstr>
      <vt:lpstr>Объекты защиты</vt:lpstr>
      <vt:lpstr>Структура организации</vt:lpstr>
      <vt:lpstr>Оценка угроз</vt:lpstr>
      <vt:lpstr>Меры по обеспечению безопасности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 zmorok</cp:lastModifiedBy>
  <cp:revision>19</cp:revision>
  <dcterms:created xsi:type="dcterms:W3CDTF">2013-01-27T09:14:16Z</dcterms:created>
  <dcterms:modified xsi:type="dcterms:W3CDTF">2025-09-11T16:03:23Z</dcterms:modified>
  <cp:category/>
</cp:coreProperties>
</file>